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B30E77-E4B6-4091-AA61-86A963E65231}">
  <a:tblStyle styleId="{2FB30E77-E4B6-4091-AA61-86A963E652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31cff5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31cff5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031cff5a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031cff5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031cff5a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031cff5a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31cff5a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031cff5a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31cff5a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031cff5a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031cff5a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031cff5a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031cff5a6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031cff5a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031cff5a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031cff5a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031cff5a6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031cff5a6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angwatch.ai/blog/best-ai-agent-frameworks-in-2025-comparing-langgraph-dspy-crewai-agno-and-more" TargetMode="External"/><Relationship Id="rId4" Type="http://schemas.openxmlformats.org/officeDocument/2006/relationships/hyperlink" Target="https://medium.com/@seahorse.technologies.sl/langchain-vs-langgraph-vs-agno-agents-e3f986727c71" TargetMode="External"/><Relationship Id="rId5" Type="http://schemas.openxmlformats.org/officeDocument/2006/relationships/hyperlink" Target="https://sonikamaheshwari005.medium.com/langgraph-langchain-and-agno-84d84065626d" TargetMode="External"/><Relationship Id="rId6" Type="http://schemas.openxmlformats.org/officeDocument/2006/relationships/hyperlink" Target="https://getstream.io/blog/multiagent-ai-framework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QM BOT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 sz="2133"/>
              <a:t>   QM BOT - Flow Execution Backend</a:t>
            </a:r>
            <a:endParaRPr sz="2133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9144000" cy="3578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</a:t>
            </a:r>
            <a:r>
              <a:rPr lang="en" sz="2355"/>
              <a:t>Framework Comparison - Performance</a:t>
            </a:r>
            <a:endParaRPr sz="2355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Documentation : https://www.agno.com/</a:t>
            </a:r>
            <a:endParaRPr/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{2FB30E77-E4B6-4091-AA61-86A963E65231}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Feature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LangChain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LangGraph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Agno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Workflow Complexity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Linear/simple chains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Graphs, branching, loops, retries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Declarative, tool-optimized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Ease of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learning curve, rapid prototyping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Mid–high curve, more setup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Clean API, fast development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Speed &amp; Resource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Slower, resource-heavy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Ultra‑fast, 50× less memory 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698"/>
              <a:buFont typeface="Arial"/>
              <a:buNone/>
            </a:pPr>
            <a:r>
              <a:rPr lang="en" sz="2355"/>
              <a:t>                          </a:t>
            </a:r>
            <a:r>
              <a:rPr lang="en" sz="2355"/>
              <a:t>Framework Comparison - Features</a:t>
            </a:r>
            <a:endParaRPr sz="2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883200" y="111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{2FB30E77-E4B6-4091-AA61-86A963E65231}</a:tableStyleId>
              </a:tblPr>
              <a:tblGrid>
                <a:gridCol w="2466425"/>
                <a:gridCol w="2466425"/>
                <a:gridCol w="2466425"/>
              </a:tblGrid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Feature / Aspect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LangGraph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AGNO</a:t>
                      </a:r>
                      <a:endParaRPr b="1"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Strengths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Structured Orchestration with graph-based workflows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Speed and Efficiency: faster instantiation, lower memory use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Fine-grained Control over interactions and execution paths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Multimodal Support: text, image, audio, video built-in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Type Safety with statically typed language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Ease of Use: fewer lines of code, streamlined development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Customization for tailored agents and workflows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Tool Integration: pre-built tools and integrations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Knowledge Management: vector DBs for RAG &amp; dynamic few-shot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Weaknesses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Steeper Learning Curve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Accuracy and Reliability under edge cases still developing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Challenges in Production Readiness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Less Fine-grained Control over agent interactions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Manual Memory Management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Production Readiness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 for choosing Agno for Memory Agent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Documentation</a:t>
            </a:r>
            <a:r>
              <a:rPr lang="en"/>
              <a:t> </a:t>
            </a:r>
            <a:r>
              <a:rPr lang="en" sz="1200"/>
              <a:t>: </a:t>
            </a:r>
            <a:r>
              <a:rPr lang="en" sz="2200"/>
              <a:t> </a:t>
            </a:r>
            <a:r>
              <a:rPr lang="en" sz="1100"/>
              <a:t>https://langwatch.ai/blog/best-ai-agent-frameworks-in-2025-comparing-langgraph-dspy-crewai-agno-and-more</a:t>
            </a:r>
            <a:endParaRPr sz="1100"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562350" y="167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{2FB30E77-E4B6-4091-AA61-86A963E65231}</a:tableStyleId>
              </a:tblPr>
              <a:tblGrid>
                <a:gridCol w="2029225"/>
                <a:gridCol w="2029225"/>
                <a:gridCol w="2029225"/>
                <a:gridCol w="2029225"/>
              </a:tblGrid>
              <a:tr h="40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Framewo</a:t>
                      </a:r>
                      <a:r>
                        <a:rPr lang="en"/>
                        <a:t>rk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For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Feature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Advantages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0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LangGraph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Complex stateful workflows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Functional API + OpenAI compatibility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Doc sprawl + bloated from LangChain layers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0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DSPy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Optimizable workflows, eval-driven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Results-focused, fast, ReAct-centric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Tool calls are hidden, not OpenAI-style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Agno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Production-grade agentic 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Great docs, unique abstractions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Needs stringified tool outputs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DSPy For SQL Agent</a:t>
            </a:r>
            <a:r>
              <a:rPr b="1" lang="en" sz="1600"/>
              <a:t> </a:t>
            </a:r>
            <a:r>
              <a:rPr lang="en" sz="1600"/>
              <a:t>                                </a:t>
            </a:r>
            <a:endParaRPr sz="16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Declarative Programming Model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Lets you define </a:t>
            </a:r>
            <a:r>
              <a:rPr i="1" lang="en" sz="1100">
                <a:solidFill>
                  <a:schemeClr val="dk1"/>
                </a:solidFill>
              </a:rPr>
              <a:t>what</a:t>
            </a:r>
            <a:r>
              <a:rPr lang="en" sz="1100">
                <a:solidFill>
                  <a:schemeClr val="dk1"/>
                </a:solidFill>
              </a:rPr>
              <a:t> the model should do rather than </a:t>
            </a:r>
            <a:r>
              <a:rPr i="1" lang="en" sz="1100">
                <a:solidFill>
                  <a:schemeClr val="dk1"/>
                </a:solidFill>
              </a:rPr>
              <a:t>how</a:t>
            </a:r>
            <a:r>
              <a:rPr lang="en" sz="1100">
                <a:solidFill>
                  <a:schemeClr val="dk1"/>
                </a:solidFill>
              </a:rPr>
              <a:t> to do it, simplifying complex prompt engineering and optimization.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Chains, Predictors, Optimizers 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Breaks workflows into reusable modules promoting code reuse and clarity.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Automatic Prompt Optimization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Uses techniques like </a:t>
            </a:r>
            <a:r>
              <a:rPr b="1" lang="en" sz="1100">
                <a:solidFill>
                  <a:schemeClr val="dk1"/>
                </a:solidFill>
              </a:rPr>
              <a:t>instruction tuning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few-shot selection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b="1" lang="en" sz="1100">
                <a:solidFill>
                  <a:schemeClr val="dk1"/>
                </a:solidFill>
              </a:rPr>
              <a:t>retrieval optimization</a:t>
            </a:r>
            <a:r>
              <a:rPr lang="en" sz="1100">
                <a:solidFill>
                  <a:schemeClr val="dk1"/>
                </a:solidFill>
              </a:rPr>
              <a:t> to automatically improve model performance without manual tweaking.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Performance Tracking: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Allows integration of evaluation metrics and optimization loops directly into the development process.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Community and Stanford Backing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Developed by Stanford researchers with a growing open-source community and real research use cases.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Using DSPy to Overcome AGNO's Limitations</a:t>
            </a:r>
            <a:endParaRPr sz="202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637300" cy="3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607">
                <a:solidFill>
                  <a:schemeClr val="dk1"/>
                </a:solidFill>
              </a:rPr>
              <a:t>Improving Accuracy &amp; Reliability</a:t>
            </a:r>
            <a:endParaRPr b="1" sz="4607">
              <a:solidFill>
                <a:schemeClr val="dk1"/>
              </a:solidFill>
            </a:endParaRPr>
          </a:p>
          <a:p>
            <a:pPr indent="-30174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7">
                <a:solidFill>
                  <a:schemeClr val="dk1"/>
                </a:solidFill>
              </a:rPr>
              <a:t>DSPy’s </a:t>
            </a:r>
            <a:r>
              <a:rPr b="1" lang="en" sz="4607">
                <a:solidFill>
                  <a:schemeClr val="dk1"/>
                </a:solidFill>
              </a:rPr>
              <a:t>automatic prompt optimization</a:t>
            </a:r>
            <a:r>
              <a:rPr lang="en" sz="4607">
                <a:solidFill>
                  <a:schemeClr val="dk1"/>
                </a:solidFill>
              </a:rPr>
              <a:t> and </a:t>
            </a:r>
            <a:r>
              <a:rPr b="1" lang="en" sz="4607">
                <a:solidFill>
                  <a:schemeClr val="dk1"/>
                </a:solidFill>
              </a:rPr>
              <a:t>declarative modules</a:t>
            </a:r>
            <a:r>
              <a:rPr lang="en" sz="4607">
                <a:solidFill>
                  <a:schemeClr val="dk1"/>
                </a:solidFill>
              </a:rPr>
              <a:t> help refine prompts and logic under edge cases, increasing output reliability.</a:t>
            </a:r>
            <a:br>
              <a:rPr lang="en" sz="4607">
                <a:solidFill>
                  <a:schemeClr val="dk1"/>
                </a:solidFill>
              </a:rPr>
            </a:br>
            <a:endParaRPr sz="4607">
              <a:solidFill>
                <a:schemeClr val="dk1"/>
              </a:solidFill>
            </a:endParaRPr>
          </a:p>
          <a:p>
            <a:pPr indent="-30174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7">
                <a:solidFill>
                  <a:schemeClr val="dk1"/>
                </a:solidFill>
              </a:rPr>
              <a:t>You can define testable behavior and expectations using evaluation metrics, which AGNO currently lacks.</a:t>
            </a:r>
            <a:endParaRPr sz="46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607">
                <a:solidFill>
                  <a:schemeClr val="dk1"/>
                </a:solidFill>
              </a:rPr>
              <a:t>Gaining Fine-Grained Control</a:t>
            </a:r>
            <a:endParaRPr b="1" sz="4607">
              <a:solidFill>
                <a:schemeClr val="dk1"/>
              </a:solidFill>
            </a:endParaRPr>
          </a:p>
          <a:p>
            <a:pPr indent="-30174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7">
                <a:solidFill>
                  <a:schemeClr val="dk1"/>
                </a:solidFill>
              </a:rPr>
              <a:t>While AGNO trades control for ease, DSPy allows you to </a:t>
            </a:r>
            <a:r>
              <a:rPr b="1" lang="en" sz="4607">
                <a:solidFill>
                  <a:schemeClr val="dk1"/>
                </a:solidFill>
              </a:rPr>
              <a:t>modularize agent behavior</a:t>
            </a:r>
            <a:r>
              <a:rPr lang="en" sz="4607">
                <a:solidFill>
                  <a:schemeClr val="dk1"/>
                </a:solidFill>
              </a:rPr>
              <a:t> with chains and predictors, enabling </a:t>
            </a:r>
            <a:r>
              <a:rPr b="1" lang="en" sz="4607">
                <a:solidFill>
                  <a:schemeClr val="dk1"/>
                </a:solidFill>
              </a:rPr>
              <a:t>step-level customization</a:t>
            </a:r>
            <a:r>
              <a:rPr lang="en" sz="4607">
                <a:solidFill>
                  <a:schemeClr val="dk1"/>
                </a:solidFill>
              </a:rPr>
              <a:t> of logic without losing structure.</a:t>
            </a:r>
            <a:br>
              <a:rPr lang="en" sz="4607">
                <a:solidFill>
                  <a:schemeClr val="dk1"/>
                </a:solidFill>
              </a:rPr>
            </a:br>
            <a:endParaRPr sz="4607">
              <a:solidFill>
                <a:schemeClr val="dk1"/>
              </a:solidFill>
            </a:endParaRPr>
          </a:p>
          <a:p>
            <a:pPr indent="-30174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7">
                <a:solidFill>
                  <a:schemeClr val="dk1"/>
                </a:solidFill>
              </a:rPr>
              <a:t>This bridges AGNO’s simplicity with LangGraph-level control.</a:t>
            </a:r>
            <a:endParaRPr sz="46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607">
                <a:solidFill>
                  <a:schemeClr val="dk1"/>
                </a:solidFill>
              </a:rPr>
              <a:t>Enhancing Production Readiness</a:t>
            </a:r>
            <a:endParaRPr b="1" sz="4607">
              <a:solidFill>
                <a:schemeClr val="dk1"/>
              </a:solidFill>
            </a:endParaRPr>
          </a:p>
          <a:p>
            <a:pPr indent="-30174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7">
                <a:solidFill>
                  <a:schemeClr val="dk1"/>
                </a:solidFill>
              </a:rPr>
              <a:t>DSPy promotes </a:t>
            </a:r>
            <a:r>
              <a:rPr b="1" lang="en" sz="4607">
                <a:solidFill>
                  <a:schemeClr val="dk1"/>
                </a:solidFill>
              </a:rPr>
              <a:t>transparent workflows</a:t>
            </a:r>
            <a:r>
              <a:rPr lang="en" sz="4607">
                <a:solidFill>
                  <a:schemeClr val="dk1"/>
                </a:solidFill>
              </a:rPr>
              <a:t>, making it easier to debug, audit, and version agent behavior—key for production deployments.</a:t>
            </a:r>
            <a:br>
              <a:rPr lang="en" sz="4607">
                <a:solidFill>
                  <a:schemeClr val="dk1"/>
                </a:solidFill>
              </a:rPr>
            </a:br>
            <a:endParaRPr sz="4607">
              <a:solidFill>
                <a:schemeClr val="dk1"/>
              </a:solidFill>
            </a:endParaRPr>
          </a:p>
          <a:p>
            <a:pPr indent="-30174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7">
                <a:solidFill>
                  <a:schemeClr val="dk1"/>
                </a:solidFill>
              </a:rPr>
              <a:t>Built-in tools for </a:t>
            </a:r>
            <a:r>
              <a:rPr b="1" lang="en" sz="4607">
                <a:solidFill>
                  <a:schemeClr val="dk1"/>
                </a:solidFill>
              </a:rPr>
              <a:t>evaluation and improvement</a:t>
            </a:r>
            <a:r>
              <a:rPr lang="en" sz="4607">
                <a:solidFill>
                  <a:schemeClr val="dk1"/>
                </a:solidFill>
              </a:rPr>
              <a:t> reduce manual fine-tuning cycles.</a:t>
            </a:r>
            <a:br>
              <a:rPr lang="en" sz="4607">
                <a:solidFill>
                  <a:schemeClr val="dk1"/>
                </a:solidFill>
              </a:rPr>
            </a:br>
            <a:endParaRPr sz="46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</a:t>
            </a:r>
            <a:r>
              <a:rPr lang="en"/>
              <a:t> Evaluation 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Individual Limitations: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LangChain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Heavy utilization with lower performance.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Its monolithic architecture and runtime overhead can hinder scalability and responsiveness in real-time applications.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Vanna.AI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Lacks advanced features.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Primarily focused on basic data querying; insufficient for building complex, adaptive agent systems.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DSPy (Standalone)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Powerful, but limited in production-grade agent management.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While it offers prompt optimization and modular reasoning, it lacks native support for real-time agent orchestration and multimodal tool use.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AGNO (Standalone)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Average accuracy with limited control.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Prioritizes speed and usability, but at the cost of reliability in edge cases and fine-grained logic tuning.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Used: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DSPy + AGNO Integration → Result-Centric, Agent-Capable Architecture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By </a:t>
            </a:r>
            <a:r>
              <a:rPr b="1" lang="en" sz="1100">
                <a:solidFill>
                  <a:schemeClr val="dk1"/>
                </a:solidFill>
              </a:rPr>
              <a:t>combining DSPy's prompt optimization, modular design, and reasoning capabilities</a:t>
            </a:r>
            <a:r>
              <a:rPr lang="en" sz="1100">
                <a:solidFill>
                  <a:schemeClr val="dk1"/>
                </a:solidFill>
              </a:rPr>
              <a:t> with </a:t>
            </a:r>
            <a:r>
              <a:rPr b="1" lang="en" sz="1100">
                <a:solidFill>
                  <a:schemeClr val="dk1"/>
                </a:solidFill>
              </a:rPr>
              <a:t>AGNO's speed, multimodal support, and tool integration</a:t>
            </a:r>
            <a:r>
              <a:rPr lang="en" sz="1100">
                <a:solidFill>
                  <a:schemeClr val="dk1"/>
                </a:solidFill>
              </a:rPr>
              <a:t>, we can achieve: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Result-Centric Intelligence: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DSPy ensures high-accuracy reasoning and adaptability under varying inputs.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Agent Build Capabilities: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AGNO’s lightweight framework enables rapid creation and deployment of multimodal, tool-using agents.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Control + Performance: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DSPy injects reliability and precision into AGNO’s fast agent pipeline—achieving both quality and responsiveness.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Refference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https://langwatch.ai/blog/best-ai-agent-frameworks-in-2025-comparing-langgraph-dspy-crewai-agno-and-more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https://medium.com/@seahorse.technologies.sl/langchain-vs-langgraph-vs-agno-agents-e3f986727c71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https://sonikamaheshwari005.medium.com/langgraph-langchain-and-agno-84d84065626d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https://getstream.io/blog/multiagent-ai-frameworks/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